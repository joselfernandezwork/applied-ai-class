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44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-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Concepts · Career Applications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class for professionals ready to work smarter with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</a:rPr>
              <a:t>ChatGPT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246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Claude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3246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Gemini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3246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</a:rPr>
              <a:t>Copilot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3246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CD34D">
              <a:alpha val="25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</a:rPr>
              <a:t>Perplexity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Cornell · Class of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Room?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8BDF8"/>
                </a:solidFill>
              </a:rPr>
              <a:t>27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Students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From 12+ industries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64008" cy="1463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143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55F7"/>
                </a:solidFill>
              </a:rPr>
              <a:t>~70%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Beginners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039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Ready to level 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64008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143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4D399"/>
                </a:solidFill>
              </a:rPr>
              <a:t>12+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Industries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39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Finance · Tech · Health · Sports · Gov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40690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Career Goals in This 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3136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CEOs &amp; Founders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45643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Finance Leaders (CAO/CFO/VP)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" y="3685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Strategy &amp; M&amp;A Consultants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3959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Senior &amp; Project Managers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Sales &amp; Business Dev Leaders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Technical &amp; Product Managers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697480"/>
            <a:ext cx="40690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Top Things You Want to Learn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1821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01768" y="3136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AI Agents &amp; Bots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45643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01768" y="34107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Vibe Coding &amp; App Building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7307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01768" y="3685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Data Analytics &amp; Dashboards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00507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01768" y="3959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Automation &amp; Workflows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27939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01768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Better Prompting Techniques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455371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01768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Which Tool for Which Task?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 A 60-Second Update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0515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Artificial Intelligence is software that learns patterns from data to make decisions, generate content, or solve problems — without being explicitly programmed for every case.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1965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Learns patterns from examples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(spam filters, recommendations)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327355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4600" y="224028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14600" y="2240280"/>
            <a:ext cx="19659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Deep Learning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Neural networks with many layers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(image recognition, speech)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327355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1965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Large Language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Trained on billions of text tokens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(ChatGPT, Claude, Gemini)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29400" y="3273552"/>
            <a:ext cx="1371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12280" y="2240280"/>
            <a:ext cx="19659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12280" y="2240280"/>
            <a:ext cx="19659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AI Agents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LLMs + tools + memory + actions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(Cowork, Copilot, AutoGPT)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Today's focus: LLMs and the tools built on top of them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AI Landscape: Tools You'll Master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Conversational 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ChatGPT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17647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Claude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6654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0208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Gemini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2768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Copilot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161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Research &amp; 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5544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93008" y="15087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Perplexity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1810512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17647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NotebookLM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066544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93008" y="20208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Gemini Deep Research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0515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105156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1161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Image &amp; Video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55448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15087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Midjourney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81051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7648" y="17647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DALL-E 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206654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27648" y="20208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Runway ML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232257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27648" y="22768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Kling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8803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288036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Coding &amp; Building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38328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" y="3337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Replit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639312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" y="3593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Cursor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389534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" y="3849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v0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151376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8368" y="41056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GitHub Copilot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28803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0" y="2880360"/>
            <a:ext cx="265176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9184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Audio &amp; Voice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37560" y="3383280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93008" y="3337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ElevenLabs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37560" y="3639312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93008" y="3593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Suno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37560" y="3895344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93008" y="3849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Udio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035040" y="2880360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2648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</a:rPr>
              <a:t>Agents &amp; Automation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72200" y="3383280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27648" y="3337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Claude Cowork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3639312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27648" y="3593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Zapier AI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72200" y="3895344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27648" y="3849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Make AI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72200" y="4151376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27648" y="41056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n8n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Reads Text: Tokenization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LLM can understand anything, text must be broken into tokens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Input: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how are you today?"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64008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Step 1 — Split into Tokens (subword units):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09728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72768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72768" y="2377440"/>
            <a:ext cx="10972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72768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79776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79776" y="2377440"/>
            <a:ext cx="109728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79776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86784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86784" y="2377440"/>
            <a:ext cx="109728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86784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"are"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93792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93792" y="2377440"/>
            <a:ext cx="10972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93792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2377440"/>
            <a:ext cx="109728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"today"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07808" y="2377440"/>
            <a:ext cx="10972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07808" y="2377440"/>
            <a:ext cx="10972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07808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"?"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Step 2 — Each token gets a numeric ID: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15496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572768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72768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79776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79776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4919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86784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86784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93792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93792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0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1909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607808" y="3246120"/>
            <a:ext cx="1097280" cy="411480"/>
          </a:xfrm>
          <a:prstGeom prst="rect">
            <a:avLst/>
          </a:prstGeom>
          <a:solidFill>
            <a:srgbClr val="0F25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07808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576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Step 3 — IDs become high-dimensional vectors (embeddings) that capture meaning: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-0.45, 0.87, 0.12, -0.66, 0.34, ... 768 numbers per token]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CD34D"/>
                </a:solidFill>
              </a:rPr>
              <a:t>💡  GPT-4 processes up to 128,000 tokens at once. One token ≈ ¾ of a word.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Tokens to Meaning: Vector Databases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stores and retrieves knowledge — the memory system behind RAG &amp;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3295"/>
            <a:ext cx="39319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What Is a Vector Database?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</a:rPr>
              <a:t>A vector database stores text as coordinates in mathematical space — words and concepts with similar meanings land near each other.
</a:t>
            </a:r>
            <a:r>
              <a:rPr lang="en-US" sz="1050" b="1" dirty="0">
                <a:solidFill>
                  <a:srgbClr val="38BDF8"/>
                </a:solidFill>
              </a:rPr>
              <a:t>Example: </a:t>
            </a: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"King" − "Man" + "Woman" ≈ "Queen"
</a:t>
            </a:r>
            <a:r>
              <a:rPr lang="en-US" sz="1050" dirty="0">
                <a:solidFill>
                  <a:srgbClr val="F1F5F9"/>
                </a:solidFill>
              </a:rPr>
              <a:t>This lets AI find </a:t>
            </a:r>
            <a:r>
              <a:rPr lang="en-US" sz="1050" b="1" dirty="0">
                <a:solidFill>
                  <a:srgbClr val="A855F7"/>
                </a:solidFill>
              </a:rPr>
              <a:t>semantically similar</a:t>
            </a:r>
            <a:r>
              <a:rPr lang="en-US" sz="1050" dirty="0">
                <a:solidFill>
                  <a:srgbClr val="F1F5F9"/>
                </a:solidFill>
              </a:rPr>
              <a:t> content, not just keyword matches.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Like Excel — but each row is a concept, each column is a dimension of meaning: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850392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</a:rPr>
              <a:t>Concept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99032" y="3108960"/>
            <a:ext cx="850392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99032" y="3108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</a:rPr>
              <a:t>Dim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95144" y="3108960"/>
            <a:ext cx="850392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95144" y="3108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</a:rPr>
              <a:t>Dim 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91256" y="3108960"/>
            <a:ext cx="850392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91256" y="310896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1F5F9"/>
                </a:solidFill>
              </a:rPr>
              <a:t>Dim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4015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99032" y="34015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9032" y="34015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95144" y="34015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95144" y="34015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91256" y="34015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91256" y="34015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6301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6301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99032" y="36301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99032" y="36301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95144" y="36301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95144" y="36301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91256" y="36301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91256" y="36301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8587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8587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399032" y="38587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99032" y="38587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95144" y="38587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295144" y="38587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91256" y="3858768"/>
            <a:ext cx="850392" cy="219456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91256" y="38587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40873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40873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399032" y="40873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99032" y="40873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95144" y="40873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295144" y="40873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191256" y="4087368"/>
            <a:ext cx="850392" cy="219456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191256" y="408736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80560" y="1103275"/>
            <a:ext cx="42976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634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Why This Matters For You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617720" y="1508760"/>
            <a:ext cx="39776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1600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74920" y="1563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RAG (Retrieval-Augmented Generation)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749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AI searches a vector DB of your company docs before answering — no hallucination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2286000"/>
            <a:ext cx="39776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6344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74920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AI Agents with Memory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749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Agents remember past conversations by storing them as vectors and retrieving relevant ones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17720" y="3063240"/>
            <a:ext cx="39776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63440" y="3154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07492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Semantic Search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749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Search "revenue decline" and find docs about "sales drop" — meaning, not keywords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17720" y="3840480"/>
            <a:ext cx="397764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663440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74920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Tools Like NotebookLM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7492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Upload your PDFs → they become vectors → AI answers questions from your content only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Behind the Bot: Neural Networks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4128" y="166420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1664208"/>
            <a:ext cx="1426464" cy="3200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" y="1664208"/>
            <a:ext cx="1426464" cy="960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1664208"/>
            <a:ext cx="1426464" cy="16002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" y="1664208"/>
            <a:ext cx="1426464" cy="22402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24128" y="230428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4128" y="230428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2304288"/>
            <a:ext cx="1426464" cy="3200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2304288"/>
            <a:ext cx="1426464" cy="960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" y="2304288"/>
            <a:ext cx="1426464" cy="16002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" y="294436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24128" y="294436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" y="294436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24128" y="2944368"/>
            <a:ext cx="1426464" cy="3200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4128" y="2944368"/>
            <a:ext cx="1426464" cy="960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4128" y="358444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358444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24128" y="358444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4128" y="3584448"/>
            <a:ext cx="142646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4128" y="3584448"/>
            <a:ext cx="1426464" cy="3200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70048" y="134416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70048" y="134416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70048" y="1344168"/>
            <a:ext cx="877824" cy="128016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670048" y="1344168"/>
            <a:ext cx="877824" cy="19202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70048" y="1344168"/>
            <a:ext cx="877824" cy="25603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70048" y="198424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670048" y="198424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670048" y="198424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70048" y="1984248"/>
            <a:ext cx="877824" cy="128016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70048" y="1984248"/>
            <a:ext cx="877824" cy="19202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670048" y="262432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670048" y="262432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670048" y="262432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670048" y="262432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670048" y="2624328"/>
            <a:ext cx="877824" cy="128016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67004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67004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67004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7004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670048" y="326440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67004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67004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67004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7004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67004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767328" y="134416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767328" y="1344168"/>
            <a:ext cx="877824" cy="128016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767328" y="1344168"/>
            <a:ext cx="877824" cy="192024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767328" y="198424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767328" y="198424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767328" y="1984248"/>
            <a:ext cx="877824" cy="128016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767328" y="262432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767328" y="262432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767328" y="2624328"/>
            <a:ext cx="877824" cy="6400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76732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76732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67328" y="326440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76732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76732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767328" y="3904488"/>
            <a:ext cx="877824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14400" y="155448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34D399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14400" y="219456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34D399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14400" y="283464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34D399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14400" y="3474720"/>
            <a:ext cx="228600" cy="2286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34D399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9436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4D399"/>
                </a:solidFill>
              </a:rPr>
              <a:t>Input Layer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560320" y="123444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60320" y="187452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560320" y="251460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560320" y="315468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560320" y="379476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24028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</a:rPr>
              <a:t>Hidden Layers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657600" y="123444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657600" y="187452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657600" y="251460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657600" y="315468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657600" y="379476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76200" dist="25400" dir="81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33756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754880" y="1874520"/>
            <a:ext cx="228600" cy="228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A855F7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754880" y="2514600"/>
            <a:ext cx="228600" cy="228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A855F7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754880" y="3154680"/>
            <a:ext cx="228600" cy="2286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A855F7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43484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55F7"/>
                </a:solidFill>
              </a:rPr>
              <a:t>Output Layer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19456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8BDF8"/>
                </a:solidFill>
              </a:rPr>
              <a:t>Hidden Layers (×96 in GPT-4)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03520" y="1005840"/>
            <a:ext cx="338328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4864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486400" y="1508760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48640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1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76072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Input arrives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5760720" y="16916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Your text token IDs enter the first layer as numbers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486400" y="2130552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48640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760720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Signals flow forward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760720" y="23134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Each neuron multiplies, sums, and transforms its inputs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486400" y="2752344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48640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3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76072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Weights decide relevance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760720" y="29352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Billions of trained weights amplify or suppress signals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486400" y="3374136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486400" y="3374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5760720" y="3346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Attention layers focus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5760720" y="35570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Transformer attention asks: which tokens relate to which?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486400" y="3995928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5486400" y="3995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5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576072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Output is generated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5760720" y="4178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The network predicts the most likely next token — one at a time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CD34D"/>
                </a:solidFill>
              </a:rPr>
              <a:t>💡  GPT-4 has ~1.8 trillion parameters (weights). In context of an LLM, a "neuron" fires based on token patterns.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 LLM: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173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</a:rPr>
              <a:t>Your Prompt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Raw text input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14630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005840"/>
            <a:ext cx="141732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Tokenizer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Text → token IDs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005840"/>
            <a:ext cx="14173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Embedding Layer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IDs → vectors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005840"/>
            <a:ext cx="141732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</a:rPr>
              <a:t>Transformer Blocks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Attention + FFN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(repeated N times)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46520" y="14630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8368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83680" y="1005840"/>
            <a:ext cx="141732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72B6"/>
                </a:solidFill>
              </a:rPr>
              <a:t>Output Head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Scores for all tokens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001000" y="14630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55280" y="1005840"/>
            <a:ext cx="1417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0" y="1005840"/>
            <a:ext cx="1417320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01000" y="1097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</a:rPr>
              <a:t>Your Response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0100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Decoded text output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2240280"/>
            <a:ext cx="54864" cy="1234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🔍  Inside One Transformer Block (the key innovation)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Multi-Head Self-Attention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Each token looks at all other tokens and decides what to pay attention to. 'The bank...' — river or financial?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65176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Feed-Forward Network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51760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Applies non-linear transformations to inject learned knowledge about the world.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Layer Normalization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Stabilizes training, keeps numbers in range.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</a:rPr>
              <a:t>Residual Connections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2944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Skip connections prevent vanishing gradients, allow very deep networks.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656850"/>
            <a:ext cx="841248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Model Scale Comparison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Model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Parameters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Layers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66560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Context Window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6032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~1.8T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6656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6032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~200B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6344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80+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6656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Ultra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6032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90+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6656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4086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56032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70B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6344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66560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GPT-4  /  ~1.8T params  /  120 layers  /  128k context  —  Claude 3.5  /  ~200B  /  80+ layers  /  200k context  —  Gemini Ultra  /  ~1T  /  2M context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LLM Looks Like in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view of the Transformer architecture in Python/PyTorch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212080" cy="3794760"/>
          </a:xfrm>
          <a:prstGeom prst="rect">
            <a:avLst/>
          </a:prstGeom>
          <a:solidFill>
            <a:srgbClr val="0A112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21208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33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transformer_block.py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4283" y="1353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torch.nn as nn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4283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TransformerBlock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15998" y="1792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94283" y="2011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55141" y="2011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d_model=768, n_heads=12):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2311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self.attention =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58391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MultiHeadAttention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95321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(d_model, n_heads)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self.ffn       =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58391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92070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(d_model, 4*d_model)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8895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self.norm1     = self.norm2 =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07285" y="28895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nn.LayerNorm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98571" y="288950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(d_model)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3284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4283" y="33284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97534" y="33284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x):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35478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Self-attention + residual connection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7673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 +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39926" y="37673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self.attention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46427" y="37673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(self.norm1(x))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986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Feed-forward + residual connection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 +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39926" y="4206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self.ffn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00784" y="4206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(self.norm2(x))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44256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 # passes to next block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1005840"/>
            <a:ext cx="292608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</a:rPr>
              <a:t>What Each Part Does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0" y="1481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 = 768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The width of the network — how many numbers represent each token (GPT-2 used 768; GPT-4 uses ~12,000)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n_heads =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0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Multi-head attention runs 12 parallel attention patterns simultaneously, each learning different relationships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MultiHeadAttention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43600" y="2752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The core innovation: each token asks 'which other tokens should I care about?' and adjusts accordingly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0" y="30723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FeedForward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3282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Two linear layers with activation — stores factual knowledge learned during training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LayerNorm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0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Normalizes activations — critical for stable training of very deep networks (GPT-4 has 120 blocks)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43600" y="4133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...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Residual connection: adds the original input back — prevents information loss and vanishing gradients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LLM Actually Do?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Core function: Predict the most likely next token, one at a time — at massive scale, with vast knowledge.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974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974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What LLMs Can 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3408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Generate fluent, coherent 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Summarize long documents instantly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895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Translate between 100+ languages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1638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Write code in any language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34381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Answer questions from context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3712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Extract structured data from text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986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Roleplay characters / personas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Reason step-by-step (chain-of-thought)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920240"/>
            <a:ext cx="26974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1920240"/>
            <a:ext cx="26974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How They're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237744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02152" y="23408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Chat interfaces (ChatGPT, Claude)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6517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02152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Copilots embedded in software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292608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02152" y="28895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Document analysis pipelines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320040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02152" y="31638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Customer service automation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47472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02152" y="34381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Code completion &amp; review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374904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02152" y="3712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Content creation &amp; marketing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40233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02152" y="3986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Financial modeling assistance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429768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02152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Medical report summarization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1920240"/>
            <a:ext cx="26974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26480" y="1920240"/>
            <a:ext cx="26974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0" y="2011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Limitations to Know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237744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82512" y="23408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Training data has a cutoff date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265176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82512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Can hallucinate confident falsehoods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292608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82512" y="28895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No real-time internet (unless tool-equipped)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320040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82512" y="31638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Struggles with precise math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17920" y="347472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82512" y="34381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No persistent memory by default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374904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82512" y="3712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Sensitive to prompt wording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402336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82512" y="39867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Cannot verify its own outputs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429768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82512" y="42611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Context window has token limits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CD34D"/>
                </a:solidFill>
              </a:rPr>
              <a:t>🔑  Key insight: LLMs don't "know" things the way humans do — they learned statistical patterns. The skill is learning how to guide them.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101: Better Inputs = Better Outputs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The CRAFT Framework for Great Prompts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600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773936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Give background: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"I'm a finance VP preparing a board deck..."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1645920"/>
            <a:ext cx="1600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4832" y="1645920"/>
            <a:ext cx="1600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79192" y="1773936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7919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30552" y="2249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560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Assign an identity: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"Act as a senior financial analyst..."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03904" y="1645920"/>
            <a:ext cx="1600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1645920"/>
            <a:ext cx="1600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98264" y="1773936"/>
            <a:ext cx="402336" cy="40233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9826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9624" y="2249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2560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State what to do: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"Write / Summarize / Analyze / Build..."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22976" y="1645920"/>
            <a:ext cx="1600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1645920"/>
            <a:ext cx="1600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17336" y="1773936"/>
            <a:ext cx="402336" cy="40233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17336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F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68696" y="2249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Format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68696" y="2560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Specify output: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"In a table / bullet points / 200 words..."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42048" y="1645920"/>
            <a:ext cx="16002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42048" y="1645920"/>
            <a:ext cx="160020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36408" y="1773936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36408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87768" y="22494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</a:rPr>
              <a:t>Tone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87768" y="2560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Set the style: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"Professional / Casual / Concise / Technical"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4023360" cy="868680"/>
          </a:xfrm>
          <a:prstGeom prst="rect">
            <a:avLst/>
          </a:prstGeom>
          <a:solidFill>
            <a:srgbClr val="1A0A0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3886200"/>
            <a:ext cx="40233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959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</a:rPr>
              <a:t>❌  Weak Prompt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me a report"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886200"/>
            <a:ext cx="4206240" cy="868680"/>
          </a:xfrm>
          <a:prstGeom prst="rect">
            <a:avLst/>
          </a:prstGeom>
          <a:solidFill>
            <a:srgbClr val="0A1A0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0" y="3886200"/>
            <a:ext cx="42062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3959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</a:rPr>
              <a:t>✅  Strong CRAFT Prompt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187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"You are a senior financial analyst. I am a Finance VP preparing a Q1 board report for a $50M manufacturing firm. Write a 3-paragraph executive summary highlighting revenue, cost drivers, and 2 key risks. Use formal, concise language."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ChatGPT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The world's most widely used AI assistant — by OpenAI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4D399"/>
                </a:solidFill>
              </a:rPr>
              <a:t>chatgpt.com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Go to chatgpt.com &amp; sign 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tier available. GPT-4o is included on Plus ($20/mo)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Choose your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GPT-4o for most tasks · o1 for complex reasoning · GPT-4o mini for speed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Start a new chat or use a GPT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Type your prompt or explore pre-built GPTs in the store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Attach files, images, or URLs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Drag in a PDF, screenshot, or paste a link for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Projects to organize 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Create a Project for each client/topic — it maintains memory and instructions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Enable Web Search &amp; Code Interpreter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Toggle in the chat bar for real-time data and file analysis/charting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Writing &amp; editing documents and emails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Analyzing PDFs, spreadsheets, images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Generating &amp; debugging code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Building custom GPT agents for your team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Brainstorming &amp; strategic planning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Data visualization from uploaded files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Custom Instructions to set your role permanently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Ask it to 'think step by step' for complex problems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Create a GPT for your specific workflow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923C"/>
                </a:solidFill>
              </a:rPr>
              <a:t>Claude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Anthropic's AI — best for long documents, nuanced reasoning &amp; coding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B923C"/>
                </a:solidFill>
              </a:rPr>
              <a:t>claude.ai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Go to claude.ai &amp; create account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tier available. Claude Pro ($20/mo) for Claude 4 Opus/Sonnet access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Select your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Claude Sonnet 4.6 for balance · Opus 4.6 for hardest tasks · Haiku for speed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Create a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Upload reference docs — Claude keeps them in context for every conversation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Upload large documents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Claude handles up to 200,000 tokens — paste in entire contracts, reports, books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Cowork mode (this app!)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Claude runs on your computer, can open files, build slides, and create documents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Build with the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For developers: integrate Claude into your apps via the Anthropic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Analyzing very long contracts or reports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Advanced coding and debugging tasks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Nuanced writing with careful tone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Creating slides, docs &amp; spreadsheets (Cowork)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Research synthesis and summarization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Complex reasoning and strategic analysis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Claude scores top on coding, reasoning, and long-context tasks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Ask it to 'show your thinking' with extended thinking mode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Projects + custom instructions to make Claude 'know' your business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Microsoft Copilot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embedded in Word, Excel, PowerPoint, Teams &amp; Outlook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8BDF8"/>
                </a:solidFill>
              </a:rPr>
              <a:t>copilot.microsoft.com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Access via copilot.microsoft.com or M365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version at copilot.microsoft.com · Full features require M365 Copilot license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Word: Draft &amp; Rewrite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Open Word → Copilot button → 'Draft a memo about...' or select text → Rewrite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Excel: Analyze &amp; Formula Help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Select data → Copilot → 'Show trends' or 'Add a formula column that...' 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PowerPoint: Create a Deck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Home → Copilot → 'Create a presentation about [topic]' from scratch or a Word doc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Teams: Meeting Summaries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After any meeting, ask Copilot for a summary, action items, or specific quotes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Outlook: Email Drafts &amp; Summaries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Copilot in any email → Draft a reply, summarize thread, or change tone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Drafting memos, reports, emails in Word/Outlook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Analyzing spreadsheet data in Excel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Creating presentations from Word docs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Meeting summaries and action items in Teams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Enterprise-safe AI (your data stays in M365)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Scheduling and email management in Outlook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Best if your company is already on Microsoft 365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'Copilot Pages' to share AI outputs as live collaborative docs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In Excel, use natural language to build PivotTables and charts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55F7"/>
                </a:solidFill>
              </a:rPr>
              <a:t>Google Gemini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Google's multimodal AI — integrated with Workspace and Google 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55F7"/>
                </a:solidFill>
              </a:rPr>
              <a:t>gemini.google.com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Go to gemini.google.com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with Google account. Gemini Advanced ($20/mo) unlocks Gemini Ultra + 2M context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Try Deep Research mode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'Deep Research' → enter your topic → Gemini searches, synthesizes &amp; writes a full report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Gems (custom AI personas)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Create → New Gem → set instructions to make a specialized assistant for a specific role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Analyze images and 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Drag in an image, screenshot, or PDF — Gemini 2.0 excels at visual + text reasoning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Connect to Google Workspace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Ask it to search your Gmail, summarize Drive docs, or add events to Calendar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in Google Docs/Sheets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the Gemini icon in any Doc or Sheet to draft, summarize, or generate formulas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Deep research reports on any topic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Analyzing large datasets with 2M token context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Working within Google Workspace (Docs, Sheets)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Multimodal tasks (images + text combined)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Real-time web information and fact-checking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Creating Gems for specialized business functions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2M token context to analyze an entire book or dataset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Deep Research mode rivals expert human researchers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Gemini in Google Sheets = natural language formulas &amp; analysis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Perplexity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AI-powered search engine with cited sources — like Google + ChatGPT combined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4D399"/>
                </a:solidFill>
              </a:rPr>
              <a:t>perplexity.ai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Go to perplexity.ai &amp; ask any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tier is powerful. Pro ($20/mo) adds Claude/GPT-4o models and file uploads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Focus modes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Switch to: Academic (papers only) · YouTube · Reddit · LinkedIn for targeted sources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Check the sources panel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Every answer shows numbered citations — click any to read the full source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Pro Search for deeper digs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'Pro' before searching — it asks clarifying questions before researching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Upload PDFs or images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Ask specific questions about your uploaded document or image (Pro feature)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Create Spaces (team research)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Spaces are shared research areas — invite colleagues and share findings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Current events and up-to-date market research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Academic literature searches with citations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Competitive intelligence gathering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Quick fact-checking with sources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Industry trends and regulatory updates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Due diligence research for M&amp;A/investments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For current events: always use Perplexity, not ChatGPT (dated training)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'Academic' focus for peer-reviewed research only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Copy the citations into your documents for credibility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55F7"/>
                </a:solidFill>
              </a:rPr>
              <a:t>Midjourney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World-class AI image generation — for marketing, presentations &amp; creative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55F7"/>
                </a:solidFill>
              </a:rPr>
              <a:t>midjourney.com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Sign up at midjourney.com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Basic plan $10/mo. Use the website (no Discord required now)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Click 'Create' and describe your image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Type a detailed description: subject, style, lighting, mood, camera angle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Add style parameters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Try: --style raw (realistic) · --ar 16:9 (widescreen) · --v 6 (latest model)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prompt structures that 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"A professional photo of [subject], [setting], [lighting], photorealistic, --ar 16:9"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Upscale &amp; vary your favorites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U1-U4 to upscale (HD) · V1-V4 to create variations · Remix to edit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Download and use in decks/docs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Right-click → Save image → insert into PowerPoint, Word, or any doc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Creating hero images for presentations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Marketing and social media visuals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Product concept mockups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Executive portraits or team photos (stylized)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Brand-consistent visual content at scale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Event flyers and promotional materials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Describe the style like a photographer: 'golden hour lighting, shallow depth of field'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--no [thing] to exclude elements you don't want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Try ChatGPT to help you write better Midjourney prompts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64008" cy="777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B923C"/>
                </a:solidFill>
              </a:rPr>
              <a:t>Replit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Build apps with AI without knowing how to code — 'vibe coding' in the browser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B923C"/>
                </a:solidFill>
              </a:rPr>
              <a:t>replit.com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How to Use It — Step by Step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544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Go to replit.com and sign 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6968" y="1801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Free tier available. Core plan ($15/mo) for more compute and AI features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5798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Click 'Create Repl' or use AI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24048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Select 'Replit Agent' → describe the app you want to build in plain English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" y="27614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Describe your app to the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" y="30083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"Build a web app that tracks my weekly expenses and shows a pie chart by category"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3649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Watch Replit write the 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611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The AI writes, runs, debugs, and iterates — you can see it working in real time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39684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Test your app instantly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6968" y="4215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Your app runs live in the browser alongside the editor — no setup required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292608" cy="29260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572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Deploy with one click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8188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Click Deploy → your app gets a live URL you can share immediately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1480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Best For (Your Use Cases)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Building custom business tools (no IT needed)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1874520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47488" y="183794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Expense trackers, project dashboards, databases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176272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213969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Automating repetitive data entry tasks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47488" y="2441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Creating internal calculators for your team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2779776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47488" y="27432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Prototyping app ideas before hiring a developer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47488" y="30449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Building client-facing portals or reporting tools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364992"/>
            <a:ext cx="411480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463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🔥  Power User Tips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4748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You don't need to understand code — describe in plain English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414223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47488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If something breaks, just tell Replit Agent what went wrong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47488" y="4425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it to build internal tools: trackers, dashboards, calculators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&amp; NotebookLM: Two Hidden Gems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Google AI Studio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aistudio.google.com  ·  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Google's API playground and developer sandbox for Gemini models — free access to the most powerful Gemini models with a huge context window.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4672" y="2523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Go to aistudio.google.com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27157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Sign in with Google — 100% free to use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35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" y="2916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Select Gemini 2.5 Pro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Current top model with 1M+ token context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328416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Paste or upload your content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3502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Drop in PDFs, images, audio, video files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721608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" y="3703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Ask questions or set system prompts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38953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Add a 'System prompt' to customize behavior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Get your API key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" y="4288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Click 'Get API key' → use in your own apps or Replit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1480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1148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NotebookLM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46320" y="1426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notebooklm.google.com  ·  FREE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1691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AI research assistant that reads ONLY your documents — no hallucination, every answer has a citation pointing to the exact source.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2542032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25420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02352" y="2523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Go to notebooklm.google.com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02352" y="27157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Free with Google account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293522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2935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02352" y="2916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Create a new Notebook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02352" y="3108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Click + New notebook → give it a name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3328416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0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02352" y="33101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Add your sources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02352" y="35021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Upload PDFs, Google Docs, URLs, YouTube links, audio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46320" y="3721608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02352" y="3703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Ask questions about your content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02352" y="38953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"What are the key risks mentioned?" → cites page #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46320" y="4114800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4114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02352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Generate Audio Overviews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02352" y="4288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Click 'Audio Overview' → get a podcast-style briefing on your docs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CD34D"/>
                </a:solidFill>
              </a:rPr>
              <a:t>💡  NotebookLM killer use case: Upload board reports + competitor filings + strategy docs → ask 'What are the top 3 risks I should raise in Monday's meeting?'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Agents: The Next Frontier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6858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1155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An AI Agent = LLM + Tools + Memory + Planning — it takes actions, not just answers questions.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9659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9659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LLM Brain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968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Reasons, plans, decides what to do next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1828800"/>
            <a:ext cx="19659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4600" y="1828800"/>
            <a:ext cx="19659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5968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Web search, code execution, file I/O, APIs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19659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19659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5968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Short-term (context) + long-term (vector DB)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12280" y="1828800"/>
            <a:ext cx="19659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828800"/>
            <a:ext cx="196596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923C"/>
                </a:solidFill>
              </a:rPr>
              <a:t>Planning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5968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1F5F9"/>
                </a:solidFill>
              </a:rPr>
              <a:t>Breaks goals into steps, recovers from failures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</a:rPr>
              <a:t>Agents You Can Use Right Now: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4572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6484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Claude Cowork (this app)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858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Reads your files, builds docs/slides/spreadsheets, runs code, searches the web — all without you typing commands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3611880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17720" y="3611880"/>
            <a:ext cx="4572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6484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ChatGPT with Operator/Tasks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858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Browses websites, fills forms, completes multi-step web tasks autonomously (Operator preview)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178808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4178808"/>
            <a:ext cx="4572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4215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Microsoft Copilot Studio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425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Build custom AI agents for your business: customer service bots, HR helpers, data analysts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4178808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4178808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4215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Zapier AI &amp; Make.com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425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Connect AI to 5,000+ apps — automate workflows: email triggers → AI analysis → Slack notification → CRM update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Tools — Your Master 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this slide. All links are live — click to open.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72768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24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ChatGPT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465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chatgpt.com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" y="1938528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Chat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029968" y="1051560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29968" y="1051560"/>
            <a:ext cx="1572768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29968" y="1124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75688" y="15087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Claude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75688" y="17465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claude.ai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04288" y="1938528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4288" y="19385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923C"/>
                </a:solidFill>
              </a:rPr>
              <a:t>Chat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39896" y="1051560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39896" y="1051560"/>
            <a:ext cx="1572768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39896" y="1124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85616" y="15087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Copilot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85616" y="17465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copilot.microsoft.com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14216" y="1938528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14216" y="19385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8BDF8"/>
                </a:solidFill>
              </a:rPr>
              <a:t>Chat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49824" y="1051560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49824" y="1051560"/>
            <a:ext cx="1572768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9824" y="1124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95544" y="15087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Gemini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95544" y="17465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gemini.google.com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24144" y="1938528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24144" y="19385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</a:rPr>
              <a:t>Chat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159752" y="1051560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59752" y="1051560"/>
            <a:ext cx="1572768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59752" y="11247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05472" y="15087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Perplexity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05472" y="17465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perplexity.ai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34072" y="1938528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34072" y="193852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Search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" y="2313432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" y="2313432"/>
            <a:ext cx="1572768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5760" y="2770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Midjourney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30083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midjourney.com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" y="3200400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32004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855F7"/>
                </a:solidFill>
              </a:rPr>
              <a:t>Images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029968" y="2313432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029968" y="2313432"/>
            <a:ext cx="1572768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029968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075688" y="2770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DALL-E 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075688" y="30083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chatgpt.com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304288" y="3200400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304288" y="32004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Images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739896" y="2313432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739896" y="2313432"/>
            <a:ext cx="1572768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739896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785616" y="2770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</a:rPr>
              <a:t>Runway ML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785616" y="30083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runwayml.com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014216" y="3200400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F472B6">
              <a:alpha val="20000"/>
            </a:srgbClr>
          </a:solidFill>
          <a:ln w="635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014216" y="32004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472B6"/>
                </a:solidFill>
              </a:rPr>
              <a:t>Video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449824" y="2313432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49824" y="2313432"/>
            <a:ext cx="1572768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49824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95544" y="2770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</a:rPr>
              <a:t>Suno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95544" y="30083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suno.com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724144" y="3200400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FCD34D">
              <a:alpha val="20000"/>
            </a:srgbClr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724144" y="32004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D34D"/>
                </a:solidFill>
              </a:rPr>
              <a:t>Audio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159752" y="2313432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159752" y="2313432"/>
            <a:ext cx="1572768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159752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7205472" y="2770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ElevenLabs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205472" y="300837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elevenlabs.io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434072" y="3200400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434072" y="320040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923C"/>
                </a:solidFill>
              </a:rPr>
              <a:t>Voice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0040" y="3575304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20040" y="3575304"/>
            <a:ext cx="1572768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0040" y="36484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65760" y="40325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</a:rPr>
              <a:t>Replit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65760" y="42702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replit.com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94360" y="4462272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94360" y="4462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923C"/>
                </a:solidFill>
              </a:rPr>
              <a:t>Coding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029968" y="3575304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029968" y="3575304"/>
            <a:ext cx="1572768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029968" y="36484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2075688" y="40325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Cursor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075688" y="42702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cursor.com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2304288" y="4462272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304288" y="4462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8BDF8"/>
                </a:solidFill>
              </a:rPr>
              <a:t>Coding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739896" y="3575304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739896" y="3575304"/>
            <a:ext cx="1572768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739896" y="36484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3785616" y="40325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AI Studio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3785616" y="42702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aistudio.google.com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014216" y="4462272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014216" y="4462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8BDF8"/>
                </a:solidFill>
              </a:rPr>
              <a:t>Dev/API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449824" y="3575304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449824" y="3575304"/>
            <a:ext cx="1572768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449824" y="36484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📓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5495544" y="40325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NotebookLM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495544" y="42702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notebooklm.google.com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724144" y="4462272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724144" y="4462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</a:rPr>
              <a:t>Research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159752" y="3575304"/>
            <a:ext cx="1572768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7159752" y="3575304"/>
            <a:ext cx="1572768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7159752" y="36484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7205472" y="40325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v0 by Vercel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205472" y="42702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v0.dev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434072" y="4462272"/>
            <a:ext cx="1024128" cy="164592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434072" y="446227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4A3B8"/>
                </a:solidFill>
              </a:rPr>
              <a:t>UI Build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Your Career: Practical Applications by Role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Finance &amp; Accounting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426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Auto-generate variance analysis in Excel via Copilot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Draft board memos and investor updates with Claude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Research industry comps with Perplexity (cited)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Build financial models in Replit without a dev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974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Strategy &amp; Consulting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46304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56432" y="1426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Deep competitive intelligence with Perplexity Pro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56432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Build client decks from bullet points via Copilot/Claude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210312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Synthesize 100-page reports with NotebookLM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42316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Generate strategy frameworks with ChatGPT (CRAFT prompts)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0760" y="100584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05840"/>
            <a:ext cx="26974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2200" y="10972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Sales &amp; Business Dev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4630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36792" y="1426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Personalized outreach emails at scale with ChatGPT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178308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36792" y="1746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CRM note summarization via Copilot in Outlook/Teams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210312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36792" y="2066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Competitor analysis with Gemini Deep Research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242316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36792" y="2386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Proposal generation from discovery notes with Claude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" y="2926080"/>
            <a:ext cx="269748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2B6"/>
                </a:solidFill>
              </a:rPr>
              <a:t>Marketing &amp; Creative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383280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76072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Campaign images and visuals with Midjourney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3703320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" y="36667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Social content calendar and copy with ChatGPT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4023360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Video scripts and voiceovers with ElevenLabs + Runway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" y="4343400"/>
            <a:ext cx="91440" cy="914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6072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SEO content strategy with Perplexity + Claude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0" y="292608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0400" y="2926080"/>
            <a:ext cx="26974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Operations &amp; PM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91840" y="338328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56432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Meeting summaries and action items via Copilot Teams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0" y="370332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56432" y="36667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SOP generation from recordings with NotebookLM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91840" y="402336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56432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Status report drafting with Claude Projects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91840" y="434340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56432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Build internal tracking tools with Replit Agent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80760" y="2926080"/>
            <a:ext cx="2697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080760" y="2926080"/>
            <a:ext cx="26974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172200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</a:rPr>
              <a:t>Healthcare, Pharma, Biotech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72200" y="3383280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336792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Literature review synthesis with NotebookLM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72200" y="3703320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36792" y="36667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Regulatory document summaries with Claude (200k context)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72200" y="4023360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336792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Clinical trial protocol drafts with ChatGPT + review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172200" y="4343400"/>
            <a:ext cx="91440" cy="9144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36792" y="4306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F5F9"/>
                </a:solidFill>
              </a:rPr>
              <a:t>Medical education content with Gemini Ultra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Personal AI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06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Tier 1: Free Essentials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106424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34D399">
              <a:alpha val="25000"/>
            </a:srgbClr>
          </a:solidFill>
          <a:ln w="63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34640" y="1106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</a:rPr>
              <a:t>$0/mo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ChatGPT (free) · Gemini · Perplexity · NotebookLM · Claude (free) · Replit (free)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0" y="11612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Start here. Learn the fundamentals, find what fits your workflow.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64008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039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Tier 2: Power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03911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38BDF8">
              <a:alpha val="25000"/>
            </a:srgbClr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2039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~$30–50/mo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3500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ChatGPT Plus ($20) + Claude Pro ($20) OR Gemini Advanced ($20) — pick 2 that fit your 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0939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This is where most professionals land. Full access to frontier models.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916936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916936"/>
            <a:ext cx="64008" cy="822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Tier 3: Professional Suite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971800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A855F7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34640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</a:rPr>
              <a:t>~$100/mo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8269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M365 Copilot ($30) + Claude Pro ($20) + Perplexity Pro ($20) + Midjourney ($10) + specialty tools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302666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Full stack. You have an AI for every job. Worth it if you bill hourly.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849624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849624"/>
            <a:ext cx="64008" cy="822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Tier 4: Team/Enterprise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3904488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FB923C">
              <a:alpha val="25000"/>
            </a:srgbClr>
          </a:solidFill>
          <a:ln w="63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3904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</a:rPr>
              <a:t>Custom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M365 Copilot (per seat) + Claude for Enterprise + custom RAG/agent builds via Replit or Azure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3959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Company-wide deployment. IT/legal involved. Data stays in your environment.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CD34D"/>
                </a:solidFill>
              </a:rPr>
              <a:t>Start at Tier 1. Spend 2 weeks there. Identify the 2 tools you use daily. Then upgrade only those to Tier 2. Don't buy tools you won't open.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Avoid — And How to Fix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Treating AI output as final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Always review, fact-check, and edit. AI is a first draft machine, not a final-draft machine.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Using vague 1-line prompts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18888" y="13898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Use the CRAFT framework. Add context, role, format, and tone. Longer prompts = better outputs.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67712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Pasting confidential client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Anonymize sensitive data. Use your company's enterprise AI tool (Copilot M365) for confidential work.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267712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Expecting AI to be always right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2651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LLMs hallucinate. Verify facts, citations, and numbers. Use Perplexity for citations and sources.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Using one tool for everything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" y="3913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Different tools have different strengths. Use Perplexity for research, Claude for long docs, Replit to build.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529584"/>
            <a:ext cx="41148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529584"/>
            <a:ext cx="64008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602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</a:rPr>
              <a:t>❌  Ignoring memory/Projects features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913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✅  Set up a Project or Custom Instructions to make AI know your context — saves time on every session.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2026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5486400" cy="54864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30-Day AI Action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743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15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🚀  This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4904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Sign up for ChatGPT, Claude &amp; Perplexity (all free)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218541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Ask each one the same question — compare outputs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88036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Set up Custom Instructions in ChatGPT with your role &amp; goals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137160" cy="1371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357530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Try Perplexity for your next research task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024128"/>
            <a:ext cx="274320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024128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1115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⚡  Week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536192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47872" y="14904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Create a Claude Project with 3 docs from your actual work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2231136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47872" y="218541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Use NotebookLM on a report you need to understand quickly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47872" y="288036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Try Copilot in Word or Excel (if you have M365)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621024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47872" y="357530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Practice the CRAFT prompt framework every day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024128"/>
            <a:ext cx="274320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0760" y="1024128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0488" y="1115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🏗️  Week 3–4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1536192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1490472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Build something in Replit (expense tracker, dashboard, form)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2231136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28232" y="2185416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Try Midjourney for your next presentation's hero image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28232" y="2880360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Decide: which 2 tools do you open every day?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621024"/>
            <a:ext cx="137160" cy="1371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28232" y="3575304"/>
            <a:ext cx="2304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Upgrade to Pro for those 2 tools — that's your stack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480560"/>
            <a:ext cx="8503920" cy="548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4480560"/>
            <a:ext cx="54864" cy="5486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553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The people winning with AI aren't the most technical — they're the most curious and most consistent. The tools are free. Start today.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</a:rPr>
              <a:t>Applied AI Class  |  Cornell 2026  |  Questions? joselfernandezwork@gmail.com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4672</Words>
  <Application>Microsoft Macintosh PowerPoint</Application>
  <PresentationFormat>On-screen Show (16:9)</PresentationFormat>
  <Paragraphs>795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AI: Tools, Concepts &amp; Career Applications</dc:title>
  <dc:subject>PptxGenJS Presentation</dc:subject>
  <dc:creator>Applied AI Class</dc:creator>
  <cp:lastModifiedBy>luigi fernando</cp:lastModifiedBy>
  <cp:revision>2</cp:revision>
  <dcterms:created xsi:type="dcterms:W3CDTF">2026-03-24T23:56:40Z</dcterms:created>
  <dcterms:modified xsi:type="dcterms:W3CDTF">2026-03-25T00:54:52Z</dcterms:modified>
</cp:coreProperties>
</file>